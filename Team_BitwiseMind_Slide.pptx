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20" r:id="rId2"/>
    <p:sldId id="271" r:id="rId3"/>
    <p:sldId id="329" r:id="rId4"/>
    <p:sldId id="330" r:id="rId5"/>
    <p:sldId id="323" r:id="rId6"/>
    <p:sldId id="321" r:id="rId7"/>
    <p:sldId id="327" r:id="rId8"/>
    <p:sldId id="325" r:id="rId9"/>
    <p:sldId id="328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5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62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D17B-5703-6626-BF0F-8B4B3314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10A5D-93E8-0271-DA09-E82345B0E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84802E-1114-DBAC-B1C1-26B1B5EE9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8864D-EBC7-9A75-D462-CE7ED07AE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31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4203-E88D-4C05-01C7-34F8A510D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0EA10-29B7-193C-AB6A-645BB8CE8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38570-1A3E-320B-049C-403A9FB871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CA8E2-C75A-861A-9C17-60F918BFD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04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62D0-90D5-C0C1-8CAF-8AB7BE19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9BDFE-377A-AC2F-83FF-F6B9789D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9C447-CF5D-CF74-E795-4CF9B204B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A7144-2072-CB9F-16BF-AD6494E2A2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17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128-43A2-8D01-FDF5-E83369A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F6697-209D-43AE-40A0-731A5560C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1EE15-A587-3C27-D605-49C13F04C5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FDB3-74E7-AA1D-90E8-EF3349216D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72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037A-3FDB-8971-A63E-A218B075D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A39EB-756A-E098-D076-D84466642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B088E-A122-0A86-C0B9-DE22AF5E6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8E9F2-2BDB-2B82-DF75-95B4708069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869989-EB00-4EE7-BCB5-25BDC5BB2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66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3/6/2026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3/6/2026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3/6/2026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2.1429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uggingface.co/bengaliAI/tugstugi_bengaliai-regional-asr_whisper-mediu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1.0125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12" y="0"/>
            <a:ext cx="11293776" cy="2671601"/>
          </a:xfrm>
        </p:spPr>
        <p:txBody>
          <a:bodyPr>
            <a:noAutofit/>
          </a:bodyPr>
          <a:lstStyle/>
          <a:p>
            <a:r>
              <a:rPr lang="en-US" sz="6000" dirty="0" err="1">
                <a:latin typeface="Bookman Old Style" panose="02050604050505020204" pitchFamily="18" charset="0"/>
              </a:rPr>
              <a:t>Bangla-WhisperDiar</a:t>
            </a:r>
            <a:r>
              <a:rPr lang="en-US" sz="6000" b="0" dirty="0" err="1">
                <a:latin typeface="Bookman Old Style" panose="02050604050505020204" pitchFamily="18" charset="0"/>
              </a:rPr>
              <a:t>:</a:t>
            </a:r>
            <a:r>
              <a:rPr lang="en-US" sz="4000" b="0" i="1" dirty="0" err="1">
                <a:latin typeface="Bookman Old Style" panose="02050604050505020204" pitchFamily="18" charset="0"/>
              </a:rPr>
              <a:t>Fine-Tuning</a:t>
            </a:r>
            <a:r>
              <a:rPr lang="en-US" sz="4000" b="0" i="1" dirty="0">
                <a:latin typeface="Bookman Old Style" panose="02050604050505020204" pitchFamily="18" charset="0"/>
              </a:rPr>
              <a:t> Whisper and </a:t>
            </a:r>
            <a:r>
              <a:rPr lang="en-US" sz="4000" b="0" i="1" dirty="0" err="1">
                <a:latin typeface="Bookman Old Style" panose="02050604050505020204" pitchFamily="18" charset="0"/>
              </a:rPr>
              <a:t>PyAnnote</a:t>
            </a:r>
            <a:r>
              <a:rPr lang="en-US" sz="4000" b="0" i="1" dirty="0">
                <a:latin typeface="Bookman Old Style" panose="02050604050505020204" pitchFamily="18" charset="0"/>
              </a:rPr>
              <a:t> for Bangla Long-Form Speech Recognition and Speaker </a:t>
            </a:r>
            <a:r>
              <a:rPr lang="en-US" sz="4000" b="0" i="1" dirty="0" err="1">
                <a:latin typeface="Bookman Old Style" panose="02050604050505020204" pitchFamily="18" charset="0"/>
              </a:rPr>
              <a:t>Diarization</a:t>
            </a:r>
            <a:endParaRPr lang="en-US" sz="4000" b="0" i="1" dirty="0">
              <a:solidFill>
                <a:schemeClr val="tx1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83370" y="3429000"/>
            <a:ext cx="4106174" cy="247749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          </a:t>
            </a:r>
            <a:r>
              <a:rPr lang="en-US" sz="2400" i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Slides by-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Team </a:t>
            </a:r>
            <a:r>
              <a:rPr lang="en-US" sz="2400" b="1" i="1" dirty="0" err="1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BitwiseMind</a:t>
            </a: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(North South University)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E51F09-3BBB-3F60-78B9-F61D3DA075C9}"/>
              </a:ext>
            </a:extLst>
          </p:cNvPr>
          <p:cNvSpPr txBox="1">
            <a:spLocks/>
          </p:cNvSpPr>
          <p:nvPr/>
        </p:nvSpPr>
        <p:spPr>
          <a:xfrm>
            <a:off x="1209136" y="3846809"/>
            <a:ext cx="9601200" cy="7592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0E11DD-F114-9AA5-3C7D-15109E0F540C}"/>
              </a:ext>
            </a:extLst>
          </p:cNvPr>
          <p:cNvSpPr/>
          <p:nvPr/>
        </p:nvSpPr>
        <p:spPr>
          <a:xfrm flipV="1">
            <a:off x="492257" y="3138777"/>
            <a:ext cx="11216137" cy="624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93613F-1D4A-F78D-7CC7-22E0D0EA3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477" y="3676551"/>
            <a:ext cx="4881976" cy="16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3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6737E4E0-7315-B14B-B6FF-B71A46E7A6D1}"/>
              </a:ext>
            </a:extLst>
          </p:cNvPr>
          <p:cNvSpPr txBox="1">
            <a:spLocks/>
          </p:cNvSpPr>
          <p:nvPr/>
        </p:nvSpPr>
        <p:spPr>
          <a:xfrm>
            <a:off x="709183" y="4753977"/>
            <a:ext cx="10479657" cy="17081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7BE2E0-C1AA-A653-E4DA-3AB5F71C73AD}"/>
              </a:ext>
            </a:extLst>
          </p:cNvPr>
          <p:cNvSpPr txBox="1">
            <a:spLocks/>
          </p:cNvSpPr>
          <p:nvPr/>
        </p:nvSpPr>
        <p:spPr>
          <a:xfrm>
            <a:off x="709183" y="922997"/>
            <a:ext cx="5227160" cy="4839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Core Gap:</a:t>
            </a:r>
            <a:r>
              <a:rPr lang="en-US" dirty="0"/>
              <a:t> Bangla is widely spoken but under-resourced in speech tech. State-of-the-art models (like Whisper) are optimized for high-resource languages, degrading heavily on spontaneous, diverse Bangla audio.</a:t>
            </a:r>
          </a:p>
          <a:p>
            <a:r>
              <a:rPr lang="en-US" b="1" dirty="0"/>
              <a:t>Problem 1 (ASR):</a:t>
            </a:r>
            <a:r>
              <a:rPr lang="en-US" dirty="0"/>
              <a:t> Transcribing extended Bangla speech recordings into text accurately, evaluated via Word Error Rate (WER). Must handle dialectal variation, noise, and morphological complexity.</a:t>
            </a:r>
          </a:p>
          <a:p>
            <a:r>
              <a:rPr lang="en-US" b="1" dirty="0"/>
              <a:t>Problem 2 (</a:t>
            </a:r>
            <a:r>
              <a:rPr lang="en-US" b="1" dirty="0" err="1"/>
              <a:t>Diarization</a:t>
            </a:r>
            <a:r>
              <a:rPr lang="en-US" b="1" dirty="0"/>
              <a:t>):</a:t>
            </a:r>
            <a:r>
              <a:rPr lang="en-US" dirty="0"/>
              <a:t> Determining precisely "who spoke when" via speaker-labelled time segments, evaluated via </a:t>
            </a:r>
            <a:r>
              <a:rPr lang="en-US" dirty="0" err="1"/>
              <a:t>Diarization</a:t>
            </a:r>
            <a:r>
              <a:rPr lang="en-US" dirty="0"/>
              <a:t> Error Rate (DER).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F45735-A83A-798F-F9DF-261A5B9B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83" y="70424"/>
            <a:ext cx="9601200" cy="650875"/>
          </a:xfrm>
        </p:spPr>
        <p:txBody>
          <a:bodyPr/>
          <a:lstStyle/>
          <a:p>
            <a:r>
              <a:rPr lang="en-US" i="1" dirty="0"/>
              <a:t>Problem Statement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D0A9E-5A4A-3321-1EFE-383961034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93550"/>
            <a:ext cx="5386817" cy="3591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22F8FC-9340-BF28-E927-768F00A2F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899" y="3855948"/>
            <a:ext cx="1132001" cy="251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2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9477-3405-B080-9C6D-A12CEBD0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C15C366C-FBAD-745A-3E8E-11794926E975}"/>
              </a:ext>
            </a:extLst>
          </p:cNvPr>
          <p:cNvSpPr txBox="1">
            <a:spLocks/>
          </p:cNvSpPr>
          <p:nvPr/>
        </p:nvSpPr>
        <p:spPr>
          <a:xfrm>
            <a:off x="709183" y="4753977"/>
            <a:ext cx="10479657" cy="17081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BCE7E87A-89F8-8B4E-15B2-3DF7BB72D898}"/>
              </a:ext>
            </a:extLst>
          </p:cNvPr>
          <p:cNvSpPr txBox="1">
            <a:spLocks/>
          </p:cNvSpPr>
          <p:nvPr/>
        </p:nvSpPr>
        <p:spPr>
          <a:xfrm>
            <a:off x="476269" y="2355870"/>
            <a:ext cx="10479657" cy="39333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45A3E7B-C9CA-C9DA-57E8-F53C90AAC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83" y="34791"/>
            <a:ext cx="9601200" cy="650875"/>
          </a:xfrm>
        </p:spPr>
        <p:txBody>
          <a:bodyPr/>
          <a:lstStyle/>
          <a:p>
            <a:r>
              <a:rPr lang="en-US" i="1" dirty="0"/>
              <a:t>EDA of Dataset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9E6E2187-D1FF-49D8-C79B-B7955BFAACD0}"/>
              </a:ext>
            </a:extLst>
          </p:cNvPr>
          <p:cNvSpPr txBox="1">
            <a:spLocks/>
          </p:cNvSpPr>
          <p:nvPr/>
        </p:nvSpPr>
        <p:spPr>
          <a:xfrm>
            <a:off x="609600" y="6285960"/>
            <a:ext cx="11226799" cy="436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i="1" dirty="0"/>
              <a:t>✜ Ref: </a:t>
            </a:r>
            <a:r>
              <a:rPr lang="en-US" sz="1300" b="1" i="1" dirty="0"/>
              <a:t>Bengali-Loop</a:t>
            </a:r>
            <a:r>
              <a:rPr lang="en-US" sz="1300" i="1" dirty="0"/>
              <a:t>: Community Benchmarks for Long-Form Bangla ASR and Speaker </a:t>
            </a:r>
            <a:r>
              <a:rPr lang="en-US" sz="1300" i="1" dirty="0" err="1"/>
              <a:t>Diarization</a:t>
            </a:r>
            <a:r>
              <a:rPr lang="en-US" sz="1300" i="1" dirty="0"/>
              <a:t>. Retrieved from: </a:t>
            </a:r>
            <a:r>
              <a:rPr lang="en-US" sz="1300" i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https://arxiv.org/abs/2602.14291</a:t>
            </a:r>
            <a:endParaRPr lang="en-US" sz="1300" i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300" i="1" dirty="0"/>
          </a:p>
          <a:p>
            <a:pPr marL="0" indent="0">
              <a:buNone/>
            </a:pPr>
            <a:endParaRPr lang="en-US" sz="1400" i="1" dirty="0"/>
          </a:p>
          <a:p>
            <a:pPr marL="0" indent="0">
              <a:buNone/>
            </a:pPr>
            <a:endParaRPr lang="en-US" sz="1400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26CC7-498A-5765-6419-F9C644FE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464" y="316929"/>
            <a:ext cx="5440935" cy="3574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7861BA-26DC-5275-5269-398A91404291}"/>
              </a:ext>
            </a:extLst>
          </p:cNvPr>
          <p:cNvSpPr txBox="1"/>
          <p:nvPr/>
        </p:nvSpPr>
        <p:spPr>
          <a:xfrm>
            <a:off x="709183" y="782402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Annotations Issues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ACF22-96A9-7E53-C38F-C254130550FF}"/>
              </a:ext>
            </a:extLst>
          </p:cNvPr>
          <p:cNvSpPr txBox="1"/>
          <p:nvPr/>
        </p:nvSpPr>
        <p:spPr>
          <a:xfrm>
            <a:off x="709182" y="1371599"/>
            <a:ext cx="5156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English Digits:</a:t>
            </a:r>
            <a:r>
              <a:rPr lang="en-US" sz="1600" dirty="0"/>
              <a:t> Numerals like </a:t>
            </a:r>
            <a:r>
              <a:rPr lang="en-US" sz="1600" b="1" dirty="0"/>
              <a:t>42</a:t>
            </a:r>
            <a:r>
              <a:rPr lang="en-US" sz="1600" dirty="0"/>
              <a:t> or </a:t>
            </a:r>
            <a:r>
              <a:rPr lang="en-US" sz="1600" b="1" dirty="0"/>
              <a:t>2024</a:t>
            </a:r>
            <a:r>
              <a:rPr lang="en-US" sz="1600" dirty="0"/>
              <a:t> must be converted to Bangla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Non-Bangla / Foreign Characters:</a:t>
            </a:r>
            <a:r>
              <a:rPr lang="en-US" sz="1600" dirty="0"/>
              <a:t> Latin, Arabic,(e.g.</a:t>
            </a:r>
            <a:r>
              <a:rPr lang="en-US" sz="1600" b="1" dirty="0"/>
              <a:t> .com</a:t>
            </a:r>
            <a:r>
              <a:rPr lang="en-US" sz="1600" dirty="0"/>
              <a:t>,</a:t>
            </a:r>
            <a:r>
              <a:rPr lang="ar-AE" sz="1600" b="1" dirty="0"/>
              <a:t>الله</a:t>
            </a:r>
            <a:r>
              <a:rPr lang="en-US" sz="1600" dirty="0"/>
              <a:t>) or other (e.g. </a:t>
            </a:r>
            <a:r>
              <a:rPr lang="en-US" sz="1600" b="1" dirty="0"/>
              <a:t>\n\r\t\d।.,?!\-—:;"\'()\[\]{}]</a:t>
            </a:r>
            <a:r>
              <a:rPr lang="en-US" sz="1600" dirty="0"/>
              <a:t>) script characters mixed into Bangla transcripts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880C9-D383-7BD9-B4CC-A07B70960487}"/>
              </a:ext>
            </a:extLst>
          </p:cNvPr>
          <p:cNvSpPr txBox="1"/>
          <p:nvPr/>
        </p:nvSpPr>
        <p:spPr>
          <a:xfrm>
            <a:off x="783946" y="3648866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Audio Issues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F798E-86A0-F941-F000-7459AC95B9D0}"/>
              </a:ext>
            </a:extLst>
          </p:cNvPr>
          <p:cNvSpPr txBox="1"/>
          <p:nvPr/>
        </p:nvSpPr>
        <p:spPr>
          <a:xfrm>
            <a:off x="852955" y="4195370"/>
            <a:ext cx="51567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1hr Long Audio:</a:t>
            </a:r>
            <a:r>
              <a:rPr lang="en-US" sz="1600" dirty="0"/>
              <a:t> Training can not be done with direct 1hr long audio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Extremely distorted Test Set:</a:t>
            </a:r>
            <a:r>
              <a:rPr lang="en-US" sz="1600" dirty="0"/>
              <a:t> Many test audio’s are very noisy and heavily augmented.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801896-FFB5-0FFC-203D-E739E8F26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664" y="4047503"/>
            <a:ext cx="56197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386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8C847-C084-0D7C-5B20-27334AA6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564F20E-E37E-D844-2500-CA912E0C5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772" y="-19563"/>
            <a:ext cx="9601200" cy="571500"/>
          </a:xfrm>
        </p:spPr>
        <p:txBody>
          <a:bodyPr/>
          <a:lstStyle/>
          <a:p>
            <a:pPr algn="ctr"/>
            <a:r>
              <a:rPr lang="en-US" i="1" dirty="0"/>
              <a:t>Pipeline for Long-Form Audio Transcription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C6A776-A04B-F525-71D3-903DA01FF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65" y="550465"/>
            <a:ext cx="10884468" cy="2503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568614-DCC1-BFDB-C229-6BE0FAC134CC}"/>
              </a:ext>
            </a:extLst>
          </p:cNvPr>
          <p:cNvSpPr txBox="1"/>
          <p:nvPr/>
        </p:nvSpPr>
        <p:spPr>
          <a:xfrm>
            <a:off x="780765" y="3112273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Chunking Strategy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DD415-43E0-A597-9DED-EB6D17CDE57F}"/>
              </a:ext>
            </a:extLst>
          </p:cNvPr>
          <p:cNvSpPr txBox="1"/>
          <p:nvPr/>
        </p:nvSpPr>
        <p:spPr>
          <a:xfrm>
            <a:off x="61624" y="3505563"/>
            <a:ext cx="414380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Trim the audio in 25s chunked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Utilized </a:t>
            </a:r>
            <a:r>
              <a:rPr lang="en-US" sz="1600" dirty="0" err="1"/>
              <a:t>tugstugi</a:t>
            </a:r>
            <a:r>
              <a:rPr lang="en-US" sz="1600" dirty="0"/>
              <a:t> model to </a:t>
            </a:r>
            <a:r>
              <a:rPr lang="en-US" sz="1600" dirty="0" err="1"/>
              <a:t>intermidiate</a:t>
            </a:r>
            <a:r>
              <a:rPr lang="en-US" sz="1600" dirty="0"/>
              <a:t> transcription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Sequential Fuzzy Alignment - </a:t>
            </a:r>
            <a:r>
              <a:rPr lang="en-US" sz="1600" dirty="0"/>
              <a:t>a novel algorithm linking the ground-truth text spans to our 25-second audio chunks perfectly while preserving reading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Produced total </a:t>
            </a:r>
            <a:r>
              <a:rPr lang="en-US" sz="1600" b="1" dirty="0"/>
              <a:t>15,229 </a:t>
            </a:r>
            <a:r>
              <a:rPr lang="en-US" sz="1600" dirty="0"/>
              <a:t>chunked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6E93B-1BEF-006C-BA95-9DCCB1F20AC6}"/>
              </a:ext>
            </a:extLst>
          </p:cNvPr>
          <p:cNvSpPr txBox="1"/>
          <p:nvPr/>
        </p:nvSpPr>
        <p:spPr>
          <a:xfrm>
            <a:off x="4001003" y="3088315"/>
            <a:ext cx="4189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Preprocessing &amp; Augmentation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428516-0D96-B70E-A99D-7CAE7477E097}"/>
              </a:ext>
            </a:extLst>
          </p:cNvPr>
          <p:cNvSpPr txBox="1"/>
          <p:nvPr/>
        </p:nvSpPr>
        <p:spPr>
          <a:xfrm>
            <a:off x="4205430" y="3452259"/>
            <a:ext cx="336052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 all </a:t>
            </a:r>
            <a:r>
              <a:rPr lang="en-US" sz="1600" b="1" dirty="0"/>
              <a:t>non-Bangla</a:t>
            </a:r>
            <a:r>
              <a:rPr lang="en-US" sz="1600" dirty="0"/>
              <a:t> texts &amp; convert digits to words (e.g. 4-digit numbers in the range 1000–2099 are treated as calendar years)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Injected </a:t>
            </a:r>
            <a:r>
              <a:rPr lang="en-US" sz="1600" b="1" dirty="0"/>
              <a:t>Noise, Reverb, Echo, RIR, Bandpass filter </a:t>
            </a:r>
            <a:r>
              <a:rPr lang="en-US" sz="1600" dirty="0"/>
              <a:t>on random </a:t>
            </a:r>
            <a:r>
              <a:rPr lang="en-US" sz="1600" b="1" i="1" dirty="0"/>
              <a:t>30%</a:t>
            </a:r>
            <a:r>
              <a:rPr lang="en-US" sz="1600" dirty="0"/>
              <a:t> segment of chunked audio.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95C75-7506-351D-BC33-A0B55DB56428}"/>
              </a:ext>
            </a:extLst>
          </p:cNvPr>
          <p:cNvSpPr txBox="1"/>
          <p:nvPr/>
        </p:nvSpPr>
        <p:spPr>
          <a:xfrm>
            <a:off x="9174724" y="3095396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68B77-B735-345C-2B86-81FEBAF7F380}"/>
              </a:ext>
            </a:extLst>
          </p:cNvPr>
          <p:cNvSpPr txBox="1"/>
          <p:nvPr/>
        </p:nvSpPr>
        <p:spPr>
          <a:xfrm>
            <a:off x="7896150" y="3495378"/>
            <a:ext cx="39402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Unicode Normalization: </a:t>
            </a:r>
            <a:r>
              <a:rPr lang="en-US" sz="1600" dirty="0"/>
              <a:t>NFC normalization was applied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Hallucination Removal: </a:t>
            </a:r>
            <a:r>
              <a:rPr lang="en-US" sz="1600" dirty="0"/>
              <a:t> three regex patterns iteratively collapse repeated multi-word phrases, single words, and character n-grams (e.g. </a:t>
            </a:r>
            <a:r>
              <a:rPr lang="as-IN" sz="1600" dirty="0"/>
              <a:t>হেহেহেহে) 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Garbage Cleanup:  </a:t>
            </a:r>
            <a:r>
              <a:rPr lang="en-US" sz="1600" dirty="0"/>
              <a:t>&gt;&gt; turn-change tokens or any other injected by Whisper are stripped from final output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7F6F3113-0BAB-6B35-34A1-E80BF78598DB}"/>
              </a:ext>
            </a:extLst>
          </p:cNvPr>
          <p:cNvSpPr txBox="1">
            <a:spLocks/>
          </p:cNvSpPr>
          <p:nvPr/>
        </p:nvSpPr>
        <p:spPr>
          <a:xfrm>
            <a:off x="234350" y="6214676"/>
            <a:ext cx="11723298" cy="481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i="1" dirty="0"/>
              <a:t>✜ Ref: </a:t>
            </a:r>
            <a:r>
              <a:rPr lang="en-US" sz="1400" dirty="0" err="1"/>
              <a:t>BengaliAI:tugstugi-bengaliai-regional-asr-whisper-medium</a:t>
            </a:r>
            <a:r>
              <a:rPr lang="en-US" sz="1400" dirty="0"/>
              <a:t>, </a:t>
            </a:r>
            <a:r>
              <a:rPr lang="en-US" sz="1400" i="1" dirty="0"/>
              <a:t>Retrieved from: </a:t>
            </a:r>
            <a:r>
              <a:rPr lang="en-US" sz="1200" dirty="0" err="1">
                <a:hlinkClick r:id="rId4"/>
              </a:rPr>
              <a:t>bengaliAI</a:t>
            </a:r>
            <a:r>
              <a:rPr lang="en-US" sz="1200" dirty="0">
                <a:hlinkClick r:id="rId4"/>
              </a:rPr>
              <a:t>/</a:t>
            </a:r>
            <a:r>
              <a:rPr lang="en-US" sz="1200" dirty="0" err="1">
                <a:hlinkClick r:id="rId4"/>
              </a:rPr>
              <a:t>tugstugi_bengaliai</a:t>
            </a:r>
            <a:r>
              <a:rPr lang="en-US" sz="1200" dirty="0">
                <a:hlinkClick r:id="rId4"/>
              </a:rPr>
              <a:t>-regional-</a:t>
            </a:r>
            <a:r>
              <a:rPr lang="en-US" sz="1200" dirty="0" err="1">
                <a:hlinkClick r:id="rId4"/>
              </a:rPr>
              <a:t>asr_whisper</a:t>
            </a:r>
            <a:r>
              <a:rPr lang="en-US" sz="1200" dirty="0">
                <a:hlinkClick r:id="rId4"/>
              </a:rPr>
              <a:t>-medium · Hugging Face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515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91C4-B718-8BC7-2102-35381D24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56411-FFFA-5BCB-989D-9F5A641EB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83" y="209870"/>
            <a:ext cx="9601200" cy="695218"/>
          </a:xfrm>
        </p:spPr>
        <p:txBody>
          <a:bodyPr/>
          <a:lstStyle/>
          <a:p>
            <a:r>
              <a:rPr lang="en-US" i="1" dirty="0" err="1"/>
              <a:t>Pipleline</a:t>
            </a:r>
            <a:r>
              <a:rPr lang="en-US" i="1" dirty="0"/>
              <a:t> for Speaker </a:t>
            </a:r>
            <a:r>
              <a:rPr lang="en-US" i="1" dirty="0" err="1"/>
              <a:t>Diarization</a:t>
            </a:r>
            <a:endParaRPr lang="en-US" i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E2D49D5-9C5C-31A8-0BF6-6537477C7040}"/>
              </a:ext>
            </a:extLst>
          </p:cNvPr>
          <p:cNvSpPr txBox="1">
            <a:spLocks/>
          </p:cNvSpPr>
          <p:nvPr/>
        </p:nvSpPr>
        <p:spPr>
          <a:xfrm>
            <a:off x="544183" y="1215258"/>
            <a:ext cx="6482402" cy="42925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/>
              <a:t>Isolated Segmentation Fine-Tuning:</a:t>
            </a:r>
            <a:r>
              <a:rPr lang="en-US" sz="1600" dirty="0"/>
              <a:t> Fine-tuning  the </a:t>
            </a:r>
            <a:r>
              <a:rPr lang="en-US" sz="1600" dirty="0" err="1"/>
              <a:t>pyannote</a:t>
            </a:r>
            <a:r>
              <a:rPr lang="en-US" sz="1600" dirty="0"/>
              <a:t>/segmentation-3.0 neural network exactly </a:t>
            </a:r>
            <a:r>
              <a:rPr lang="en-US" sz="1600" i="1" dirty="0"/>
              <a:t>when</a:t>
            </a:r>
            <a:r>
              <a:rPr lang="en-US" sz="1600" dirty="0"/>
              <a:t> Bangla speakers talk on 10-second chunks using </a:t>
            </a:r>
            <a:r>
              <a:rPr lang="en-US" sz="1600" dirty="0" err="1"/>
              <a:t>PyTorch</a:t>
            </a:r>
            <a:r>
              <a:rPr lang="en-US" sz="1600" dirty="0"/>
              <a:t> Lightning.</a:t>
            </a:r>
          </a:p>
          <a:p>
            <a:r>
              <a:rPr lang="en-US" sz="1600" dirty="0"/>
              <a:t>Training: Fine-tune the segmentation model for </a:t>
            </a:r>
            <a:r>
              <a:rPr lang="en-US" sz="1600" b="1" dirty="0"/>
              <a:t>50 epochs</a:t>
            </a:r>
            <a:r>
              <a:rPr lang="en-US" sz="1600" dirty="0"/>
              <a:t> using </a:t>
            </a:r>
            <a:r>
              <a:rPr lang="en-US" sz="1600" b="1" dirty="0"/>
              <a:t>BCE loss</a:t>
            </a:r>
            <a:r>
              <a:rPr lang="en-US" sz="1600" dirty="0"/>
              <a:t>, with early stopping (patience = 15).</a:t>
            </a:r>
          </a:p>
          <a:p>
            <a:r>
              <a:rPr lang="en-US" sz="1600" b="1" dirty="0"/>
              <a:t>Frozen Attributes:</a:t>
            </a:r>
            <a:r>
              <a:rPr lang="en-US" sz="1600" dirty="0"/>
              <a:t> Leaving the pretrained "Speaker Embedding" and "Hierarchical Clustering" completely frozen to preserve how it identifies </a:t>
            </a:r>
            <a:r>
              <a:rPr lang="en-US" sz="1600" i="1" dirty="0"/>
              <a:t>what</a:t>
            </a:r>
            <a:r>
              <a:rPr lang="en-US" sz="1600" dirty="0"/>
              <a:t> a human voice sounds like.</a:t>
            </a:r>
          </a:p>
          <a:p>
            <a:r>
              <a:rPr lang="en-US" sz="1600" b="1" dirty="0"/>
              <a:t>The Pipeline-Swap Strategy:</a:t>
            </a:r>
            <a:r>
              <a:rPr lang="en-US" sz="1600" dirty="0"/>
              <a:t> Loading the community </a:t>
            </a:r>
            <a:r>
              <a:rPr lang="en-US" sz="1600" dirty="0" err="1"/>
              <a:t>PyAnnote</a:t>
            </a:r>
            <a:r>
              <a:rPr lang="en-US" sz="1600" dirty="0"/>
              <a:t> pipeline at inference, but replacing only the internal segmentation layer with our fine-tuned weights.</a:t>
            </a:r>
          </a:p>
          <a:p>
            <a:r>
              <a:rPr lang="en-US" sz="1600" b="1" dirty="0"/>
              <a:t>Post-Processing:</a:t>
            </a:r>
            <a:r>
              <a:rPr lang="en-US" sz="1600" dirty="0"/>
              <a:t>  Using a 0.3s temporal filter post-processing to instantly drop ultra-short noise artifacts masked as false-alarm speech.</a:t>
            </a:r>
          </a:p>
          <a:p>
            <a:pPr marL="0" indent="0" algn="just">
              <a:buNone/>
            </a:pPr>
            <a:r>
              <a:rPr lang="en-US" sz="1400" dirty="0"/>
              <a:t>.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3780D0-C6BE-FF6B-7CDD-17F863151107}"/>
              </a:ext>
            </a:extLst>
          </p:cNvPr>
          <p:cNvSpPr txBox="1">
            <a:spLocks/>
          </p:cNvSpPr>
          <p:nvPr/>
        </p:nvSpPr>
        <p:spPr>
          <a:xfrm>
            <a:off x="544183" y="6275061"/>
            <a:ext cx="11723298" cy="481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400" i="1" dirty="0"/>
              <a:t>✜ Ref: </a:t>
            </a:r>
            <a:r>
              <a:rPr lang="en-US" sz="1400" i="1" dirty="0" err="1"/>
              <a:t>pyannote.audio</a:t>
            </a:r>
            <a:r>
              <a:rPr lang="en-US" sz="1400" i="1" dirty="0"/>
              <a:t>: neural building blocks for speaker </a:t>
            </a:r>
            <a:r>
              <a:rPr lang="en-US" sz="1400" i="1" dirty="0" err="1"/>
              <a:t>diarization</a:t>
            </a:r>
            <a:r>
              <a:rPr lang="en-US" sz="1400" i="1" dirty="0"/>
              <a:t>. Retrieved from: </a:t>
            </a:r>
            <a:r>
              <a:rPr lang="en-US" sz="1400" i="1" dirty="0">
                <a:hlinkClick r:id="rId3"/>
              </a:rPr>
              <a:t>https://arxiv.org/abs/1911.01255</a:t>
            </a:r>
            <a:endParaRPr lang="en-US" sz="1400" i="1" dirty="0"/>
          </a:p>
          <a:p>
            <a:pPr marL="0" indent="0">
              <a:spcBef>
                <a:spcPts val="600"/>
              </a:spcBef>
              <a:buNone/>
            </a:pPr>
            <a:endParaRPr lang="en-US" sz="14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1A6CD-A3D2-5697-BF3D-8FE3D8632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585" y="905088"/>
            <a:ext cx="4996438" cy="390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023" y="203105"/>
            <a:ext cx="9601200" cy="626207"/>
          </a:xfrm>
        </p:spPr>
        <p:txBody>
          <a:bodyPr/>
          <a:lstStyle/>
          <a:p>
            <a:r>
              <a:rPr lang="en-US" i="1" dirty="0"/>
              <a:t>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854" y="2794635"/>
            <a:ext cx="3795264" cy="294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Table-1: </a:t>
            </a:r>
            <a:r>
              <a:rPr lang="en-US" sz="1400" dirty="0"/>
              <a:t>ASR </a:t>
            </a:r>
            <a:r>
              <a:rPr lang="en-US" sz="1400" dirty="0" err="1"/>
              <a:t>Perfomance</a:t>
            </a:r>
            <a:r>
              <a:rPr lang="en-US" sz="1400" dirty="0"/>
              <a:t> </a:t>
            </a:r>
            <a:r>
              <a:rPr lang="en-US" sz="1400" dirty="0" err="1"/>
              <a:t>Comparision</a:t>
            </a:r>
            <a:endParaRPr lang="en-US" sz="14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6365243"/>
              </p:ext>
            </p:extLst>
          </p:nvPr>
        </p:nvGraphicFramePr>
        <p:xfrm>
          <a:off x="900023" y="929359"/>
          <a:ext cx="4014877" cy="183411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81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4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WER(%)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lang="en-US" dirty="0" err="1"/>
                        <a:t>HisabTitu</a:t>
                      </a:r>
                      <a:r>
                        <a:rPr lang="en-US" dirty="0"/>
                        <a:t>-BN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89">
                <a:tc>
                  <a:txBody>
                    <a:bodyPr/>
                    <a:lstStyle/>
                    <a:p>
                      <a:r>
                        <a:rPr lang="en-US" dirty="0" err="1"/>
                        <a:t>Tugstugi</a:t>
                      </a:r>
                      <a:r>
                        <a:rPr lang="en-US" dirty="0"/>
                        <a:t> (pretrained)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34.07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9">
                <a:tc>
                  <a:txBody>
                    <a:bodyPr/>
                    <a:lstStyle/>
                    <a:p>
                      <a:r>
                        <a:rPr lang="en-US" dirty="0" err="1"/>
                        <a:t>Tugstugi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LoRA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93669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b="1" dirty="0"/>
                        <a:t>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24.41*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1F192990-9A6C-8C83-42F9-5153E8397F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4354855"/>
              </p:ext>
            </p:extLst>
          </p:nvPr>
        </p:nvGraphicFramePr>
        <p:xfrm>
          <a:off x="900022" y="3656573"/>
          <a:ext cx="4014877" cy="10972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741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4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WER(%)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lang="en-US" dirty="0"/>
                        <a:t>Without Post-Processing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89">
                <a:tc>
                  <a:txBody>
                    <a:bodyPr/>
                    <a:lstStyle/>
                    <a:p>
                      <a:r>
                        <a:rPr lang="en-US" dirty="0"/>
                        <a:t>With Post-Processing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24.41*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52751F-CC83-CEA5-9A08-B032F52A198E}"/>
              </a:ext>
            </a:extLst>
          </p:cNvPr>
          <p:cNvSpPr txBox="1">
            <a:spLocks/>
          </p:cNvSpPr>
          <p:nvPr/>
        </p:nvSpPr>
        <p:spPr>
          <a:xfrm>
            <a:off x="1119635" y="4907086"/>
            <a:ext cx="3795264" cy="29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/>
              <a:t>Table-2: </a:t>
            </a:r>
            <a:r>
              <a:rPr lang="en-US" sz="1400" dirty="0"/>
              <a:t>Effectiveness of Post-Processing</a:t>
            </a:r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4D60C79D-8802-4F6B-296F-CA19A0F777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8628377"/>
              </p:ext>
            </p:extLst>
          </p:nvPr>
        </p:nvGraphicFramePr>
        <p:xfrm>
          <a:off x="5955460" y="929359"/>
          <a:ext cx="4834027" cy="183411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729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4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WER(%)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lang="en-US" dirty="0" err="1"/>
                        <a:t>WebRTCVAD+ECAPA+Clustering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89">
                <a:tc>
                  <a:txBody>
                    <a:bodyPr/>
                    <a:lstStyle/>
                    <a:p>
                      <a:r>
                        <a:rPr lang="en-US" dirty="0" err="1"/>
                        <a:t>SileroVAD+ECAPA+Clustering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9">
                <a:tc>
                  <a:txBody>
                    <a:bodyPr/>
                    <a:lstStyle/>
                    <a:p>
                      <a:r>
                        <a:rPr lang="en-US" dirty="0" err="1"/>
                        <a:t>Pyannote.audio</a:t>
                      </a:r>
                      <a:r>
                        <a:rPr lang="en-US" dirty="0"/>
                        <a:t>(pretrained)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93669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lang="en-US" b="1" dirty="0"/>
                        <a:t>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23.92*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A76470E-F1DA-D7DF-1350-857C81A04820}"/>
              </a:ext>
            </a:extLst>
          </p:cNvPr>
          <p:cNvSpPr txBox="1">
            <a:spLocks/>
          </p:cNvSpPr>
          <p:nvPr/>
        </p:nvSpPr>
        <p:spPr>
          <a:xfrm>
            <a:off x="6096000" y="2860935"/>
            <a:ext cx="4629150" cy="368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/>
              <a:t>Table-3: </a:t>
            </a:r>
            <a:r>
              <a:rPr lang="en-US" sz="1400" dirty="0"/>
              <a:t>Speaker </a:t>
            </a:r>
            <a:r>
              <a:rPr lang="en-US" sz="1400" dirty="0" err="1"/>
              <a:t>Diariziation</a:t>
            </a:r>
            <a:r>
              <a:rPr lang="en-US" sz="1400" dirty="0"/>
              <a:t> Performance Comparison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4511CE2-F12B-E28C-C0F8-13D403DE219F}"/>
              </a:ext>
            </a:extLst>
          </p:cNvPr>
          <p:cNvSpPr txBox="1">
            <a:spLocks/>
          </p:cNvSpPr>
          <p:nvPr/>
        </p:nvSpPr>
        <p:spPr>
          <a:xfrm>
            <a:off x="5955460" y="4907086"/>
            <a:ext cx="4910227" cy="438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/>
              <a:t>Table-4: </a:t>
            </a:r>
            <a:r>
              <a:rPr lang="en-US" sz="1400" dirty="0"/>
              <a:t>Leaderboard Score for both Public and Private set</a:t>
            </a:r>
          </a:p>
        </p:txBody>
      </p:sp>
      <p:graphicFrame>
        <p:nvGraphicFramePr>
          <p:cNvPr id="14" name="Content Placeholder 4">
            <a:extLst>
              <a:ext uri="{FF2B5EF4-FFF2-40B4-BE49-F238E27FC236}">
                <a16:creationId xmlns:a16="http://schemas.microsoft.com/office/drawing/2014/main" id="{171F00E3-462F-6E11-344B-4F2ADBEA8E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8344223"/>
              </p:ext>
            </p:extLst>
          </p:nvPr>
        </p:nvGraphicFramePr>
        <p:xfrm>
          <a:off x="5180647" y="3657144"/>
          <a:ext cx="6459854" cy="10990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22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78">
                  <a:extLst>
                    <a:ext uri="{9D8B030D-6E8A-4147-A177-3AD203B41FA5}">
                      <a16:colId xmlns:a16="http://schemas.microsoft.com/office/drawing/2014/main" val="2962702653"/>
                    </a:ext>
                  </a:extLst>
                </a:gridCol>
              </a:tblGrid>
              <a:tr h="3675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Public(29%)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Private(71%)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78768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lang="en-US" dirty="0"/>
                        <a:t>Long Form ASR (WER %)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23.580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24.750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917">
                <a:tc>
                  <a:txBody>
                    <a:bodyPr/>
                    <a:lstStyle/>
                    <a:p>
                      <a:r>
                        <a:rPr lang="en-US" dirty="0"/>
                        <a:t>Speaker </a:t>
                      </a:r>
                      <a:r>
                        <a:rPr lang="en-US" dirty="0" err="1"/>
                        <a:t>Diarization</a:t>
                      </a:r>
                      <a:r>
                        <a:rPr lang="en-US" dirty="0"/>
                        <a:t> (DER 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18.518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26.133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588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3AFA9-1AC0-401A-CA12-089F3DB73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9D54-F968-1B95-A8BE-AE8B808A9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23" y="368705"/>
            <a:ext cx="9601200" cy="626207"/>
          </a:xfrm>
        </p:spPr>
        <p:txBody>
          <a:bodyPr/>
          <a:lstStyle/>
          <a:p>
            <a:r>
              <a:rPr lang="en-US" i="1" dirty="0"/>
              <a:t>Inference Time &amp; RTF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0B921CB-F561-9527-5562-F0C88B56AB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9697498"/>
              </p:ext>
            </p:extLst>
          </p:nvPr>
        </p:nvGraphicFramePr>
        <p:xfrm>
          <a:off x="1757489" y="1578347"/>
          <a:ext cx="8313707" cy="262543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5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393">
                  <a:extLst>
                    <a:ext uri="{9D8B030D-6E8A-4147-A177-3AD203B41FA5}">
                      <a16:colId xmlns:a16="http://schemas.microsoft.com/office/drawing/2014/main" val="3782015949"/>
                    </a:ext>
                  </a:extLst>
                </a:gridCol>
                <a:gridCol w="1712247">
                  <a:extLst>
                    <a:ext uri="{9D8B030D-6E8A-4147-A177-3AD203B41FA5}">
                      <a16:colId xmlns:a16="http://schemas.microsoft.com/office/drawing/2014/main" val="2125266700"/>
                    </a:ext>
                  </a:extLst>
                </a:gridCol>
                <a:gridCol w="1023907">
                  <a:extLst>
                    <a:ext uri="{9D8B030D-6E8A-4147-A177-3AD203B41FA5}">
                      <a16:colId xmlns:a16="http://schemas.microsoft.com/office/drawing/2014/main" val="42331652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Task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Inference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RTF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478">
                <a:tc>
                  <a:txBody>
                    <a:bodyPr/>
                    <a:lstStyle/>
                    <a:p>
                      <a:r>
                        <a:rPr lang="en-US" dirty="0"/>
                        <a:t>Long Form ASR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T4x1(GPU)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3hr 38min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24.41%(WER)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0.1659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Long Form ASR</a:t>
                      </a:r>
                    </a:p>
                    <a:p>
                      <a:r>
                        <a:rPr lang="en-US" dirty="0"/>
                        <a:t>(</a:t>
                      </a:r>
                      <a:r>
                        <a:rPr lang="en-US" b="1" dirty="0"/>
                        <a:t>Inference Optimized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T4x2(GPU)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25 min**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25.60%(WER)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0.0190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478">
                <a:tc>
                  <a:txBody>
                    <a:bodyPr/>
                    <a:lstStyle/>
                    <a:p>
                      <a:r>
                        <a:rPr lang="en-US" dirty="0"/>
                        <a:t>Speaker </a:t>
                      </a:r>
                      <a:r>
                        <a:rPr lang="en-US" dirty="0" err="1"/>
                        <a:t>Diarization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T4x1(GPU)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1hr 20min**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23.92%(DER)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0.1054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9256EF-0A99-77D2-DC31-B21170103BB2}"/>
              </a:ext>
            </a:extLst>
          </p:cNvPr>
          <p:cNvSpPr txBox="1">
            <a:spLocks/>
          </p:cNvSpPr>
          <p:nvPr/>
        </p:nvSpPr>
        <p:spPr>
          <a:xfrm>
            <a:off x="3640886" y="4424910"/>
            <a:ext cx="4910227" cy="438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400" b="1" dirty="0"/>
              <a:t>Table-5: </a:t>
            </a:r>
            <a:r>
              <a:rPr lang="en-US" sz="1400" dirty="0"/>
              <a:t>Inference Efficiency Analyis (Real-Time Factor) </a:t>
            </a:r>
          </a:p>
        </p:txBody>
      </p:sp>
    </p:spTree>
    <p:extLst>
      <p:ext uri="{BB962C8B-B14F-4D97-AF65-F5344CB8AC3E}">
        <p14:creationId xmlns:p14="http://schemas.microsoft.com/office/powerpoint/2010/main" val="260075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CE1A1-8FB7-634A-D3FA-5F559AE5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802F-A2F8-5326-B5FB-2AD4E0C3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234" y="74869"/>
            <a:ext cx="9601200" cy="695218"/>
          </a:xfrm>
        </p:spPr>
        <p:txBody>
          <a:bodyPr>
            <a:normAutofit fontScale="90000"/>
          </a:bodyPr>
          <a:lstStyle/>
          <a:p>
            <a:r>
              <a:rPr lang="en-US" i="1" dirty="0" err="1"/>
              <a:t>Perfomance</a:t>
            </a:r>
            <a:r>
              <a:rPr lang="en-US" i="1" dirty="0"/>
              <a:t> Improvement Compared to Baselines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E355301-CD64-340A-4A18-F64C6A442425}"/>
              </a:ext>
            </a:extLst>
          </p:cNvPr>
          <p:cNvSpPr txBox="1">
            <a:spLocks/>
          </p:cNvSpPr>
          <p:nvPr/>
        </p:nvSpPr>
        <p:spPr>
          <a:xfrm>
            <a:off x="1045234" y="4567774"/>
            <a:ext cx="10479657" cy="17081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1600" b="1" dirty="0"/>
              <a:t>ASR Performance:</a:t>
            </a:r>
            <a:r>
              <a:rPr lang="en-US" sz="1600" dirty="0"/>
              <a:t> Achieved </a:t>
            </a:r>
            <a:r>
              <a:rPr lang="en-US" sz="1600" b="1" dirty="0"/>
              <a:t>24.41% </a:t>
            </a:r>
            <a:r>
              <a:rPr lang="en-US" sz="1600" dirty="0"/>
              <a:t>Word Error Rate (WER), reducing errors by </a:t>
            </a:r>
            <a:r>
              <a:rPr lang="en-US" sz="1600" b="1" dirty="0"/>
              <a:t>28.4%</a:t>
            </a:r>
            <a:r>
              <a:rPr lang="en-US" sz="1600" dirty="0"/>
              <a:t> compared to the pretrained </a:t>
            </a:r>
            <a:r>
              <a:rPr lang="en-US" sz="1600" b="1" dirty="0" err="1"/>
              <a:t>Tugstugi</a:t>
            </a:r>
            <a:r>
              <a:rPr lang="en-US" sz="1600" b="1" dirty="0"/>
              <a:t> baseline (34.07%)</a:t>
            </a:r>
            <a:r>
              <a:rPr lang="en-US" sz="1600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1600" b="1" dirty="0" err="1"/>
              <a:t>Diarization</a:t>
            </a:r>
            <a:r>
              <a:rPr lang="en-US" sz="1600" b="1" dirty="0"/>
              <a:t> Performance:</a:t>
            </a:r>
            <a:r>
              <a:rPr lang="en-US" sz="1600" dirty="0"/>
              <a:t> Achieved </a:t>
            </a:r>
            <a:r>
              <a:rPr lang="en-US" sz="1600" b="1" dirty="0"/>
              <a:t>23.92% </a:t>
            </a:r>
            <a:r>
              <a:rPr lang="en-US" sz="1600" dirty="0" err="1"/>
              <a:t>Diarization</a:t>
            </a:r>
            <a:r>
              <a:rPr lang="en-US" sz="1600" dirty="0"/>
              <a:t> Error Rate (DER), a </a:t>
            </a:r>
            <a:r>
              <a:rPr lang="en-US" sz="1600" b="1" dirty="0"/>
              <a:t>40.3% reduction</a:t>
            </a:r>
            <a:r>
              <a:rPr lang="en-US" sz="1600" dirty="0"/>
              <a:t> relative to the pretrained </a:t>
            </a:r>
            <a:r>
              <a:rPr lang="en-US" sz="1600" b="1" dirty="0" err="1"/>
              <a:t>pyannote</a:t>
            </a:r>
            <a:r>
              <a:rPr lang="en-US" sz="1600" b="1" dirty="0"/>
              <a:t> model (40.08%)</a:t>
            </a:r>
            <a:r>
              <a:rPr lang="en-US" sz="1600" dirty="0"/>
              <a:t>.</a:t>
            </a:r>
          </a:p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5AA966-3552-5CB8-42D2-B53AFFA8D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57" y="933450"/>
            <a:ext cx="6368660" cy="355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2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7CF8-5E97-2F53-34C0-99EE3FE6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1AEDBCA-6FCB-EA56-1F91-1C2DE8AE1F96}"/>
              </a:ext>
            </a:extLst>
          </p:cNvPr>
          <p:cNvSpPr txBox="1">
            <a:spLocks/>
          </p:cNvSpPr>
          <p:nvPr/>
        </p:nvSpPr>
        <p:spPr>
          <a:xfrm>
            <a:off x="709183" y="4753977"/>
            <a:ext cx="10479657" cy="17081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EF7EE26C-A98D-5837-D412-5B7B9B9CC2F8}"/>
              </a:ext>
            </a:extLst>
          </p:cNvPr>
          <p:cNvSpPr txBox="1">
            <a:spLocks/>
          </p:cNvSpPr>
          <p:nvPr/>
        </p:nvSpPr>
        <p:spPr>
          <a:xfrm>
            <a:off x="709183" y="3522379"/>
            <a:ext cx="10479657" cy="201736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Future Work:</a:t>
            </a:r>
            <a:endParaRPr lang="en-US" dirty="0"/>
          </a:p>
          <a:p>
            <a:pPr lvl="1"/>
            <a:r>
              <a:rPr lang="en-US" sz="2000" dirty="0"/>
              <a:t>Develop a </a:t>
            </a:r>
            <a:r>
              <a:rPr lang="en-US" sz="2000" b="1" dirty="0"/>
              <a:t>joint ASR–</a:t>
            </a:r>
            <a:r>
              <a:rPr lang="en-US" sz="2000" b="1" dirty="0" err="1"/>
              <a:t>diarization</a:t>
            </a:r>
            <a:r>
              <a:rPr lang="en-US" sz="2000" b="1" dirty="0"/>
              <a:t> system</a:t>
            </a:r>
            <a:r>
              <a:rPr lang="en-US" sz="2000" dirty="0"/>
              <a:t> capable of generating transcripts while accurately assigning speaker labels with precise temporal alignment.</a:t>
            </a:r>
          </a:p>
          <a:p>
            <a:pPr lvl="1"/>
            <a:r>
              <a:rPr lang="en-US" sz="2000" dirty="0"/>
              <a:t>Apply </a:t>
            </a:r>
            <a:r>
              <a:rPr lang="en-US" sz="2000" b="1" dirty="0"/>
              <a:t>model compression methods</a:t>
            </a:r>
            <a:r>
              <a:rPr lang="en-US" sz="2000" dirty="0"/>
              <a:t> such as Quantization and Pruning to reduce latency and support efficient deployment on edge devices.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075DA2-3E14-4E10-C7D1-5AA00D6CAE0A}"/>
              </a:ext>
            </a:extLst>
          </p:cNvPr>
          <p:cNvSpPr txBox="1">
            <a:spLocks/>
          </p:cNvSpPr>
          <p:nvPr/>
        </p:nvSpPr>
        <p:spPr>
          <a:xfrm>
            <a:off x="709182" y="976977"/>
            <a:ext cx="10479656" cy="2452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Limitations:</a:t>
            </a:r>
            <a:endParaRPr lang="en-US" dirty="0"/>
          </a:p>
          <a:p>
            <a:pPr lvl="1"/>
            <a:r>
              <a:rPr lang="en-US" sz="2000" dirty="0"/>
              <a:t>Due to limited GPU resources, full-weight fine-tuning was not performed, although it could potentially improve representation learning under the current task setting.</a:t>
            </a:r>
          </a:p>
          <a:p>
            <a:pPr lvl="1"/>
            <a:r>
              <a:rPr lang="en-US" sz="2000" dirty="0"/>
              <a:t>The </a:t>
            </a:r>
            <a:r>
              <a:rPr lang="en-US" sz="2000" dirty="0" err="1"/>
              <a:t>diarization</a:t>
            </a:r>
            <a:r>
              <a:rPr lang="en-US" sz="2000" dirty="0"/>
              <a:t> training dataset was very small (10 full recordings), which limited the model’s ability to adapt.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68F1931-57DD-3235-06B4-7D431596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183" y="34791"/>
            <a:ext cx="9601200" cy="650875"/>
          </a:xfrm>
        </p:spPr>
        <p:txBody>
          <a:bodyPr/>
          <a:lstStyle/>
          <a:p>
            <a:r>
              <a:rPr lang="en-US" i="1" dirty="0"/>
              <a:t>Limitations &amp; Future Work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AEF1AFF6-B9BC-5297-C4FC-75025B16DE1A}"/>
              </a:ext>
            </a:extLst>
          </p:cNvPr>
          <p:cNvSpPr txBox="1">
            <a:spLocks/>
          </p:cNvSpPr>
          <p:nvPr/>
        </p:nvSpPr>
        <p:spPr>
          <a:xfrm>
            <a:off x="609600" y="6285960"/>
            <a:ext cx="11226799" cy="4368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93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18288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0200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2880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8012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00000"/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17078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679968"/>
            <a:ext cx="9601200" cy="1089386"/>
          </a:xfrm>
        </p:spPr>
        <p:txBody>
          <a:bodyPr>
            <a:noAutofit/>
          </a:bodyPr>
          <a:lstStyle/>
          <a:p>
            <a:pPr algn="ctr"/>
            <a:r>
              <a:rPr lang="en-US" sz="7200" i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5288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1752</TotalTime>
  <Words>883</Words>
  <Application>Microsoft Office PowerPoint</Application>
  <PresentationFormat>Widescreen</PresentationFormat>
  <Paragraphs>120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Bookman Old Style</vt:lpstr>
      <vt:lpstr>Diamond Grid 16x9</vt:lpstr>
      <vt:lpstr>Bangla-WhisperDiar:Fine-Tuning Whisper and PyAnnote for Bangla Long-Form Speech Recognition and Speaker Diarization</vt:lpstr>
      <vt:lpstr>Problem Statement</vt:lpstr>
      <vt:lpstr>EDA of Dataset</vt:lpstr>
      <vt:lpstr>Pipeline for Long-Form Audio Transcription </vt:lpstr>
      <vt:lpstr>Pipleline for Speaker Diarization</vt:lpstr>
      <vt:lpstr>Test Results</vt:lpstr>
      <vt:lpstr>Inference Time &amp; RTF</vt:lpstr>
      <vt:lpstr>Perfomance Improvement Compared to Baselines</vt:lpstr>
      <vt:lpstr>Limitations &amp; 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bhuiyan</dc:creator>
  <cp:lastModifiedBy>Sazzad Hossain</cp:lastModifiedBy>
  <cp:revision>29</cp:revision>
  <dcterms:created xsi:type="dcterms:W3CDTF">2025-07-07T16:29:44Z</dcterms:created>
  <dcterms:modified xsi:type="dcterms:W3CDTF">2026-03-06T00:29:39Z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